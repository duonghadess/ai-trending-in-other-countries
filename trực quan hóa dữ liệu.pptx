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365" r:id="rId18"/>
    <p:sldId id="366" r:id="rId19"/>
    <p:sldId id="367" r:id="rId20"/>
    <p:sldId id="269" r:id="rId21"/>
    <p:sldId id="270" r:id="rId22"/>
    <p:sldId id="357" r:id="rId23"/>
    <p:sldId id="360" r:id="rId24"/>
    <p:sldId id="361" r:id="rId25"/>
    <p:sldId id="362" r:id="rId26"/>
    <p:sldId id="363" r:id="rId27"/>
    <p:sldId id="364" r:id="rId28"/>
    <p:sldId id="275" r:id="rId29"/>
  </p:sldIdLst>
  <p:sldSz cx="12192000" cy="6858000"/>
  <p:notesSz cx="6858000" cy="9144000"/>
  <p:defaultTextStyle>
    <a:defPPr>
      <a:defRPr lang="en-US"/>
    </a:defPPr>
    <a:lvl1pPr marL="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1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6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4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3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2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6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ỳnh Thái Dương" userId="dbe3e573279a8087" providerId="LiveId" clId="{7CF85567-FA63-425C-B5A7-99D5FB131ACD}"/>
    <pc:docChg chg="undo custSel addSld delSld modSld">
      <pc:chgData name="Huỳnh Thái Dương" userId="dbe3e573279a8087" providerId="LiveId" clId="{7CF85567-FA63-425C-B5A7-99D5FB131ACD}" dt="2026-03-26T13:31:35.508" v="490" actId="767"/>
      <pc:docMkLst>
        <pc:docMk/>
      </pc:docMkLst>
      <pc:sldChg chg="modSp mod">
        <pc:chgData name="Huỳnh Thái Dương" userId="dbe3e573279a8087" providerId="LiveId" clId="{7CF85567-FA63-425C-B5A7-99D5FB131ACD}" dt="2026-03-26T13:20:44.179" v="137" actId="20577"/>
        <pc:sldMkLst>
          <pc:docMk/>
          <pc:sldMk cId="3997066378" sldId="256"/>
        </pc:sldMkLst>
        <pc:spChg chg="mod">
          <ac:chgData name="Huỳnh Thái Dương" userId="dbe3e573279a8087" providerId="LiveId" clId="{7CF85567-FA63-425C-B5A7-99D5FB131ACD}" dt="2026-03-26T13:20:44.179" v="137" actId="20577"/>
          <ac:spMkLst>
            <pc:docMk/>
            <pc:sldMk cId="3997066378" sldId="256"/>
            <ac:spMk id="2" creationId="{6AF25A78-5D3B-7F7D-BD10-E0875372EB23}"/>
          </ac:spMkLst>
        </pc:spChg>
        <pc:spChg chg="mod">
          <ac:chgData name="Huỳnh Thái Dương" userId="dbe3e573279a8087" providerId="LiveId" clId="{7CF85567-FA63-425C-B5A7-99D5FB131ACD}" dt="2026-03-26T13:20:20.975" v="52"/>
          <ac:spMkLst>
            <pc:docMk/>
            <pc:sldMk cId="3997066378" sldId="256"/>
            <ac:spMk id="3" creationId="{61265221-2052-AFDA-809E-BA8C9AAD3A00}"/>
          </ac:spMkLst>
        </pc:spChg>
      </pc:sldChg>
      <pc:sldChg chg="delSp modSp mod">
        <pc:chgData name="Huỳnh Thái Dương" userId="dbe3e573279a8087" providerId="LiveId" clId="{7CF85567-FA63-425C-B5A7-99D5FB131ACD}" dt="2026-03-26T13:24:38.077" v="345" actId="478"/>
        <pc:sldMkLst>
          <pc:docMk/>
          <pc:sldMk cId="2883648667" sldId="257"/>
        </pc:sldMkLst>
        <pc:spChg chg="mod">
          <ac:chgData name="Huỳnh Thái Dương" userId="dbe3e573279a8087" providerId="LiveId" clId="{7CF85567-FA63-425C-B5A7-99D5FB131ACD}" dt="2026-03-26T13:20:58.242" v="139" actId="20577"/>
          <ac:spMkLst>
            <pc:docMk/>
            <pc:sldMk cId="2883648667" sldId="257"/>
            <ac:spMk id="2" creationId="{FC0ABB1F-3F34-4B62-61A2-E1BDA1E83D7A}"/>
          </ac:spMkLst>
        </pc:spChg>
        <pc:graphicFrameChg chg="mod modGraphic">
          <ac:chgData name="Huỳnh Thái Dương" userId="dbe3e573279a8087" providerId="LiveId" clId="{7CF85567-FA63-425C-B5A7-99D5FB131ACD}" dt="2026-03-26T13:24:32.069" v="344" actId="14734"/>
          <ac:graphicFrameMkLst>
            <pc:docMk/>
            <pc:sldMk cId="2883648667" sldId="257"/>
            <ac:graphicFrameMk id="8" creationId="{A65240DB-D82A-F83D-9F3A-CF37CB91BCBE}"/>
          </ac:graphicFrameMkLst>
        </pc:graphicFrameChg>
        <pc:picChg chg="del">
          <ac:chgData name="Huỳnh Thái Dương" userId="dbe3e573279a8087" providerId="LiveId" clId="{7CF85567-FA63-425C-B5A7-99D5FB131ACD}" dt="2026-03-26T13:24:38.077" v="345" actId="478"/>
          <ac:picMkLst>
            <pc:docMk/>
            <pc:sldMk cId="2883648667" sldId="257"/>
            <ac:picMk id="9" creationId="{21F5BA0C-884B-9ECB-A359-BC7C7BA21F8A}"/>
          </ac:picMkLst>
        </pc:picChg>
      </pc:sldChg>
      <pc:sldChg chg="addSp delSp modSp mod modClrScheme chgLayout">
        <pc:chgData name="Huỳnh Thái Dương" userId="dbe3e573279a8087" providerId="LiveId" clId="{7CF85567-FA63-425C-B5A7-99D5FB131ACD}" dt="2026-03-26T13:31:35.508" v="490" actId="767"/>
        <pc:sldMkLst>
          <pc:docMk/>
          <pc:sldMk cId="622458755" sldId="258"/>
        </pc:sldMkLst>
        <pc:spChg chg="mod ord">
          <ac:chgData name="Huỳnh Thái Dương" userId="dbe3e573279a8087" providerId="LiveId" clId="{7CF85567-FA63-425C-B5A7-99D5FB131ACD}" dt="2026-03-26T13:26:14.772" v="455" actId="700"/>
          <ac:spMkLst>
            <pc:docMk/>
            <pc:sldMk cId="622458755" sldId="258"/>
            <ac:spMk id="2" creationId="{19A00586-5814-A07B-291F-44E17755F3C2}"/>
          </ac:spMkLst>
        </pc:spChg>
        <pc:spChg chg="add del mod ord">
          <ac:chgData name="Huỳnh Thái Dương" userId="dbe3e573279a8087" providerId="LiveId" clId="{7CF85567-FA63-425C-B5A7-99D5FB131ACD}" dt="2026-03-26T13:26:51.870" v="462" actId="478"/>
          <ac:spMkLst>
            <pc:docMk/>
            <pc:sldMk cId="622458755" sldId="258"/>
            <ac:spMk id="3" creationId="{43CEDE82-C22B-8DEA-B8A1-6CD4FC1C7358}"/>
          </ac:spMkLst>
        </pc:spChg>
        <pc:spChg chg="mod ord">
          <ac:chgData name="Huỳnh Thái Dương" userId="dbe3e573279a8087" providerId="LiveId" clId="{7CF85567-FA63-425C-B5A7-99D5FB131ACD}" dt="2026-03-26T13:26:14.772" v="455" actId="700"/>
          <ac:spMkLst>
            <pc:docMk/>
            <pc:sldMk cId="622458755" sldId="258"/>
            <ac:spMk id="4" creationId="{7245E011-E574-019A-49BB-DE1FF5E1A821}"/>
          </ac:spMkLst>
        </pc:spChg>
        <pc:spChg chg="mod ord">
          <ac:chgData name="Huỳnh Thái Dương" userId="dbe3e573279a8087" providerId="LiveId" clId="{7CF85567-FA63-425C-B5A7-99D5FB131ACD}" dt="2026-03-26T13:26:14.772" v="455" actId="700"/>
          <ac:spMkLst>
            <pc:docMk/>
            <pc:sldMk cId="622458755" sldId="258"/>
            <ac:spMk id="5" creationId="{A57D55FD-D091-C751-CE8A-DD6E54D0F31D}"/>
          </ac:spMkLst>
        </pc:spChg>
        <pc:spChg chg="mod ord">
          <ac:chgData name="Huỳnh Thái Dương" userId="dbe3e573279a8087" providerId="LiveId" clId="{7CF85567-FA63-425C-B5A7-99D5FB131ACD}" dt="2026-03-26T13:26:14.772" v="455" actId="700"/>
          <ac:spMkLst>
            <pc:docMk/>
            <pc:sldMk cId="622458755" sldId="258"/>
            <ac:spMk id="6" creationId="{3317FC30-6B97-48EE-03B6-08FFD53A9FF7}"/>
          </ac:spMkLst>
        </pc:spChg>
        <pc:spChg chg="add del mod ord">
          <ac:chgData name="Huỳnh Thái Dương" userId="dbe3e573279a8087" providerId="LiveId" clId="{7CF85567-FA63-425C-B5A7-99D5FB131ACD}" dt="2026-03-26T13:30:20.337" v="473"/>
          <ac:spMkLst>
            <pc:docMk/>
            <pc:sldMk cId="622458755" sldId="258"/>
            <ac:spMk id="7" creationId="{B95F85A4-BCDE-F79A-DFD4-08947DFBC8E5}"/>
          </ac:spMkLst>
        </pc:spChg>
        <pc:spChg chg="del mod ord">
          <ac:chgData name="Huỳnh Thái Dương" userId="dbe3e573279a8087" providerId="LiveId" clId="{7CF85567-FA63-425C-B5A7-99D5FB131ACD}" dt="2026-03-26T13:26:14.772" v="455" actId="700"/>
          <ac:spMkLst>
            <pc:docMk/>
            <pc:sldMk cId="622458755" sldId="258"/>
            <ac:spMk id="8" creationId="{93722DDA-0193-CBC8-9E95-BF6CA67ABDFB}"/>
          </ac:spMkLst>
        </pc:spChg>
        <pc:spChg chg="add del mod ord">
          <ac:chgData name="Huỳnh Thái Dương" userId="dbe3e573279a8087" providerId="LiveId" clId="{7CF85567-FA63-425C-B5A7-99D5FB131ACD}" dt="2026-03-26T13:26:52.727" v="463" actId="478"/>
          <ac:spMkLst>
            <pc:docMk/>
            <pc:sldMk cId="622458755" sldId="258"/>
            <ac:spMk id="9" creationId="{CBE8322D-7CC4-27AE-4707-55D22F6B5AAB}"/>
          </ac:spMkLst>
        </pc:spChg>
        <pc:spChg chg="add del mod ord">
          <ac:chgData name="Huỳnh Thái Dương" userId="dbe3e573279a8087" providerId="LiveId" clId="{7CF85567-FA63-425C-B5A7-99D5FB131ACD}" dt="2026-03-26T13:30:54.801" v="477"/>
          <ac:spMkLst>
            <pc:docMk/>
            <pc:sldMk cId="622458755" sldId="258"/>
            <ac:spMk id="10" creationId="{2BE5327A-256E-920A-5711-9CA6AA0A0574}"/>
          </ac:spMkLst>
        </pc:spChg>
        <pc:spChg chg="add mod">
          <ac:chgData name="Huỳnh Thái Dương" userId="dbe3e573279a8087" providerId="LiveId" clId="{7CF85567-FA63-425C-B5A7-99D5FB131ACD}" dt="2026-03-26T13:31:35.508" v="490" actId="767"/>
          <ac:spMkLst>
            <pc:docMk/>
            <pc:sldMk cId="622458755" sldId="258"/>
            <ac:spMk id="12" creationId="{865642B2-83B7-B95D-2589-810BE5B1BC09}"/>
          </ac:spMkLst>
        </pc:spChg>
        <pc:picChg chg="add mod">
          <ac:chgData name="Huỳnh Thái Dương" userId="dbe3e573279a8087" providerId="LiveId" clId="{7CF85567-FA63-425C-B5A7-99D5FB131ACD}" dt="2026-03-26T13:31:18.657" v="487" actId="1440"/>
          <ac:picMkLst>
            <pc:docMk/>
            <pc:sldMk cId="622458755" sldId="258"/>
            <ac:picMk id="11" creationId="{6583F397-FFE3-7F4E-4280-99B5E7A0A893}"/>
          </ac:picMkLst>
        </pc:picChg>
        <pc:picChg chg="add mod">
          <ac:chgData name="Huỳnh Thái Dương" userId="dbe3e573279a8087" providerId="LiveId" clId="{7CF85567-FA63-425C-B5A7-99D5FB131ACD}" dt="2026-03-26T13:28:14.980" v="471"/>
          <ac:picMkLst>
            <pc:docMk/>
            <pc:sldMk cId="622458755" sldId="258"/>
            <ac:picMk id="1026" creationId="{EBCC9134-73F1-B4DD-5D4C-92C3A6389F9B}"/>
          </ac:picMkLst>
        </pc:picChg>
        <pc:picChg chg="del">
          <ac:chgData name="Huỳnh Thái Dương" userId="dbe3e573279a8087" providerId="LiveId" clId="{7CF85567-FA63-425C-B5A7-99D5FB131ACD}" dt="2026-03-26T13:26:03.074" v="454" actId="478"/>
          <ac:picMkLst>
            <pc:docMk/>
            <pc:sldMk cId="622458755" sldId="258"/>
            <ac:picMk id="1028" creationId="{B40CECFD-BDCA-ABD4-C83F-69D64352DFFD}"/>
          </ac:picMkLst>
        </pc:picChg>
        <pc:picChg chg="add mod">
          <ac:chgData name="Huỳnh Thái Dương" userId="dbe3e573279a8087" providerId="LiveId" clId="{7CF85567-FA63-425C-B5A7-99D5FB131ACD}" dt="2026-03-26T13:31:22.167" v="489" actId="1440"/>
          <ac:picMkLst>
            <pc:docMk/>
            <pc:sldMk cId="622458755" sldId="258"/>
            <ac:picMk id="1030" creationId="{484FD656-7C67-D4FC-CD0D-0003F9EBE55E}"/>
          </ac:picMkLst>
        </pc:picChg>
      </pc:sldChg>
      <pc:sldChg chg="new del">
        <pc:chgData name="Huỳnh Thái Dương" userId="dbe3e573279a8087" providerId="LiveId" clId="{7CF85567-FA63-425C-B5A7-99D5FB131ACD}" dt="2026-03-26T13:26:45.169" v="459" actId="680"/>
        <pc:sldMkLst>
          <pc:docMk/>
          <pc:sldMk cId="2051800091" sldId="368"/>
        </pc:sldMkLst>
      </pc:sldChg>
      <pc:sldChg chg="new del">
        <pc:chgData name="Huỳnh Thái Dương" userId="dbe3e573279a8087" providerId="LiveId" clId="{7CF85567-FA63-425C-B5A7-99D5FB131ACD}" dt="2026-03-26T13:26:44.989" v="458" actId="680"/>
        <pc:sldMkLst>
          <pc:docMk/>
          <pc:sldMk cId="2676913725" sldId="369"/>
        </pc:sldMkLst>
      </pc:sldChg>
    </pc:docChg>
  </pc:docChgLst>
  <pc:docChgLst>
    <pc:chgData name="Huỳnh Thái Dương" userId="dbe3e573279a8087" providerId="LiveId" clId="{26AADA00-F1DC-4B1D-A3D3-8F72E3B179C6}"/>
    <pc:docChg chg="modSld">
      <pc:chgData name="Huỳnh Thái Dương" userId="dbe3e573279a8087" providerId="LiveId" clId="{26AADA00-F1DC-4B1D-A3D3-8F72E3B179C6}" dt="2026-03-25T03:29:22.158" v="1" actId="6549"/>
      <pc:docMkLst>
        <pc:docMk/>
      </pc:docMkLst>
      <pc:sldChg chg="modSp mod">
        <pc:chgData name="Huỳnh Thái Dương" userId="dbe3e573279a8087" providerId="LiveId" clId="{26AADA00-F1DC-4B1D-A3D3-8F72E3B179C6}" dt="2026-03-25T03:29:22.158" v="1" actId="6549"/>
        <pc:sldMkLst>
          <pc:docMk/>
          <pc:sldMk cId="2883648667" sldId="257"/>
        </pc:sldMkLst>
        <pc:spChg chg="mod">
          <ac:chgData name="Huỳnh Thái Dương" userId="dbe3e573279a8087" providerId="LiveId" clId="{26AADA00-F1DC-4B1D-A3D3-8F72E3B179C6}" dt="2026-03-25T03:29:22.158" v="1" actId="6549"/>
          <ac:spMkLst>
            <pc:docMk/>
            <pc:sldMk cId="2883648667" sldId="257"/>
            <ac:spMk id="4" creationId="{F6C6D46A-9BBB-8688-E0B0-569DCF6EBBD6}"/>
          </ac:spMkLst>
        </pc:spChg>
      </pc:sldChg>
      <pc:sldChg chg="modSp mod">
        <pc:chgData name="Huỳnh Thái Dương" userId="dbe3e573279a8087" providerId="LiveId" clId="{26AADA00-F1DC-4B1D-A3D3-8F72E3B179C6}" dt="2026-03-25T03:29:14.913" v="0" actId="1076"/>
        <pc:sldMkLst>
          <pc:docMk/>
          <pc:sldMk cId="622458755" sldId="258"/>
        </pc:sldMkLst>
        <pc:spChg chg="mod">
          <ac:chgData name="Huỳnh Thái Dương" userId="dbe3e573279a8087" providerId="LiveId" clId="{26AADA00-F1DC-4B1D-A3D3-8F72E3B179C6}" dt="2026-03-25T03:29:14.913" v="0" actId="1076"/>
          <ac:spMkLst>
            <pc:docMk/>
            <pc:sldMk cId="622458755" sldId="258"/>
            <ac:spMk id="4" creationId="{7245E011-E574-019A-49BB-DE1FF5E1A82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808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marL="457246" indent="0" algn="ctr">
              <a:buNone/>
              <a:defRPr sz="2000"/>
            </a:lvl2pPr>
            <a:lvl3pPr marL="914492" indent="0" algn="ctr">
              <a:buNone/>
              <a:defRPr sz="1800"/>
            </a:lvl3pPr>
            <a:lvl4pPr marL="1371738" indent="0" algn="ctr">
              <a:buNone/>
              <a:defRPr sz="1600"/>
            </a:lvl4pPr>
            <a:lvl5pPr marL="1828983" indent="0" algn="ctr">
              <a:buNone/>
              <a:defRPr sz="1600"/>
            </a:lvl5pPr>
            <a:lvl6pPr marL="2286228" indent="0" algn="ctr">
              <a:buNone/>
              <a:defRPr sz="1600"/>
            </a:lvl6pPr>
            <a:lvl7pPr marL="2743475" indent="0" algn="ctr">
              <a:buNone/>
              <a:defRPr sz="1600"/>
            </a:lvl7pPr>
            <a:lvl8pPr marL="3200720" indent="0" algn="ctr">
              <a:buNone/>
              <a:defRPr sz="1600"/>
            </a:lvl8pPr>
            <a:lvl9pPr marL="365796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0687-F0A6-4844-9D0E-4A71047B582E}" type="datetime1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00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5848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FontTx/>
              <a:buNone/>
              <a:defRPr/>
            </a:lvl1pPr>
            <a:lvl2pPr marL="457245" indent="0" algn="just">
              <a:buFontTx/>
              <a:buNone/>
              <a:defRPr/>
            </a:lvl2pPr>
            <a:lvl3pPr marL="914491" indent="0" algn="just">
              <a:buFontTx/>
              <a:buNone/>
              <a:defRPr/>
            </a:lvl3pPr>
            <a:lvl4pPr marL="1371737" indent="0" algn="just">
              <a:buFontTx/>
              <a:buNone/>
              <a:defRPr/>
            </a:lvl4pPr>
            <a:lvl5pPr marL="1828983" indent="0" algn="just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E0BBC2-331D-455A-8F34-6CACAAA7B272}" type="datetime1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3D6EC1-CEF0-44B9-AC69-1554EEB371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42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4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9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7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9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2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4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7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9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6F3C-EA11-4B8E-A5D6-898715DAA61A}" type="datetime1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70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08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95130"/>
            <a:ext cx="5181600" cy="4081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95129"/>
            <a:ext cx="5181600" cy="4081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42CF6-A011-4145-8138-B18222BE784F}" type="datetime1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01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857375"/>
            <a:ext cx="5157787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46" indent="0">
              <a:buNone/>
              <a:defRPr sz="2000" b="1"/>
            </a:lvl2pPr>
            <a:lvl3pPr marL="914492" indent="0">
              <a:buNone/>
              <a:defRPr sz="1800" b="1"/>
            </a:lvl3pPr>
            <a:lvl4pPr marL="1371738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8" indent="0">
              <a:buNone/>
              <a:defRPr sz="1600" b="1"/>
            </a:lvl6pPr>
            <a:lvl7pPr marL="2743475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57375"/>
            <a:ext cx="5183188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46" indent="0">
              <a:buNone/>
              <a:defRPr sz="2000" b="1"/>
            </a:lvl2pPr>
            <a:lvl3pPr marL="914492" indent="0">
              <a:buNone/>
              <a:defRPr sz="1800" b="1"/>
            </a:lvl3pPr>
            <a:lvl4pPr marL="1371738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8" indent="0">
              <a:buNone/>
              <a:defRPr sz="1600" b="1"/>
            </a:lvl6pPr>
            <a:lvl7pPr marL="2743475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6141-2144-4216-A5D8-625EEC9D46A7}" type="datetime1">
              <a:rPr lang="en-GB" smtClean="0"/>
              <a:t>26/03/2026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57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31884-8841-474E-B980-3663B77BB24B}" type="datetime1">
              <a:rPr lang="en-GB" smtClean="0"/>
              <a:t>26/03/2026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90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E740A-6F50-4770-9109-746EC93EBE8F}" type="datetime1">
              <a:rPr lang="en-GB" smtClean="0"/>
              <a:t>26/03/2026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01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987428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46" indent="0">
              <a:buNone/>
              <a:defRPr sz="1400"/>
            </a:lvl2pPr>
            <a:lvl3pPr marL="914492" indent="0">
              <a:buNone/>
              <a:defRPr sz="1200"/>
            </a:lvl3pPr>
            <a:lvl4pPr marL="1371738" indent="0">
              <a:buNone/>
              <a:defRPr sz="1000"/>
            </a:lvl4pPr>
            <a:lvl5pPr marL="1828983" indent="0">
              <a:buNone/>
              <a:defRPr sz="1000"/>
            </a:lvl5pPr>
            <a:lvl6pPr marL="2286228" indent="0">
              <a:buNone/>
              <a:defRPr sz="1000"/>
            </a:lvl6pPr>
            <a:lvl7pPr marL="2743475" indent="0">
              <a:buNone/>
              <a:defRPr sz="1000"/>
            </a:lvl7pPr>
            <a:lvl8pPr marL="3200720" indent="0">
              <a:buNone/>
              <a:defRPr sz="1000"/>
            </a:lvl8pPr>
            <a:lvl9pPr marL="36579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3542-D7FF-4C5D-BCD1-FC068661ADB1}" type="datetime1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82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46" indent="0">
              <a:buNone/>
              <a:defRPr sz="2800"/>
            </a:lvl2pPr>
            <a:lvl3pPr marL="914492" indent="0">
              <a:buNone/>
              <a:defRPr sz="2400"/>
            </a:lvl3pPr>
            <a:lvl4pPr marL="1371738" indent="0">
              <a:buNone/>
              <a:defRPr sz="2000"/>
            </a:lvl4pPr>
            <a:lvl5pPr marL="1828983" indent="0">
              <a:buNone/>
              <a:defRPr sz="2000"/>
            </a:lvl5pPr>
            <a:lvl6pPr marL="2286228" indent="0">
              <a:buNone/>
              <a:defRPr sz="2000"/>
            </a:lvl6pPr>
            <a:lvl7pPr marL="2743475" indent="0">
              <a:buNone/>
              <a:defRPr sz="2000"/>
            </a:lvl7pPr>
            <a:lvl8pPr marL="3200720" indent="0">
              <a:buNone/>
              <a:defRPr sz="2000"/>
            </a:lvl8pPr>
            <a:lvl9pPr marL="365796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46" indent="0">
              <a:buNone/>
              <a:defRPr sz="1400"/>
            </a:lvl2pPr>
            <a:lvl3pPr marL="914492" indent="0">
              <a:buNone/>
              <a:defRPr sz="1200"/>
            </a:lvl3pPr>
            <a:lvl4pPr marL="1371738" indent="0">
              <a:buNone/>
              <a:defRPr sz="1000"/>
            </a:lvl4pPr>
            <a:lvl5pPr marL="1828983" indent="0">
              <a:buNone/>
              <a:defRPr sz="1000"/>
            </a:lvl5pPr>
            <a:lvl6pPr marL="2286228" indent="0">
              <a:buNone/>
              <a:defRPr sz="1000"/>
            </a:lvl6pPr>
            <a:lvl7pPr marL="2743475" indent="0">
              <a:buNone/>
              <a:defRPr sz="1000"/>
            </a:lvl7pPr>
            <a:lvl8pPr marL="3200720" indent="0">
              <a:buNone/>
              <a:defRPr sz="1000"/>
            </a:lvl8pPr>
            <a:lvl9pPr marL="36579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0A37-54E1-46AB-854A-7F4CAEAC5932}" type="datetime1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903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13F3-5CA4-464A-A58E-B619976AB19A}" type="datetime1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02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203B-5407-419A-8A7D-10870893C35F}" type="datetime1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12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75030"/>
            <a:ext cx="10515600" cy="4001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C18046E-BA9B-4548-A8AC-F9F2F702B23B}" type="datetime1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A3D6EC1-CEF0-44B9-AC69-1554EEB371D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F9058A-D643-E990-0257-69C3B7F9EF2C}"/>
              </a:ext>
            </a:extLst>
          </p:cNvPr>
          <p:cNvSpPr txBox="1">
            <a:spLocks/>
          </p:cNvSpPr>
          <p:nvPr/>
        </p:nvSpPr>
        <p:spPr>
          <a:xfrm>
            <a:off x="5344358" y="228539"/>
            <a:ext cx="6847642" cy="689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2400" b="1">
                <a:solidFill>
                  <a:srgbClr val="008080"/>
                </a:solidFill>
              </a:rPr>
              <a:t>TRƯỜNG ĐẠI HỌC GIAO THÔNG VẬN TẢI </a:t>
            </a:r>
            <a:br>
              <a:rPr lang="en-US" sz="2400" b="1">
                <a:solidFill>
                  <a:srgbClr val="008080"/>
                </a:solidFill>
              </a:rPr>
            </a:br>
            <a:r>
              <a:rPr lang="en-US" sz="2400" b="1">
                <a:solidFill>
                  <a:srgbClr val="008080"/>
                </a:solidFill>
              </a:rPr>
              <a:t>THÀNH PHỐ HỒ CHÍ MINH</a:t>
            </a:r>
            <a:endParaRPr lang="en-GB" sz="2400" b="1"/>
          </a:p>
        </p:txBody>
      </p:sp>
      <p:pic>
        <p:nvPicPr>
          <p:cNvPr id="9" name="Picture 8" descr="A colorful text on a black background&#10;&#10;Description automatically generated">
            <a:extLst>
              <a:ext uri="{FF2B5EF4-FFF2-40B4-BE49-F238E27FC236}">
                <a16:creationId xmlns:a16="http://schemas.microsoft.com/office/drawing/2014/main" id="{1F84E451-A81F-AB53-8B68-037D26E3E5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4" y="186586"/>
            <a:ext cx="3931920" cy="7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9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9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5848B"/>
          </a:solidFill>
          <a:latin typeface="Segoe UI Black" panose="020B0A02040204020203" pitchFamily="34" charset="0"/>
          <a:ea typeface="Segoe UI Black" panose="020B0A02040204020203" pitchFamily="34" charset="0"/>
          <a:cs typeface="Times New Roman" panose="02020603050405020304" pitchFamily="18" charset="0"/>
        </a:defRPr>
      </a:lvl1pPr>
    </p:titleStyle>
    <p:bodyStyle>
      <a:lvl1pPr marL="0" indent="0" algn="l" defTabSz="914492" rtl="0" eaLnBrk="1" latinLnBrk="0" hangingPunct="1">
        <a:lnSpc>
          <a:spcPct val="90000"/>
        </a:lnSpc>
        <a:spcBef>
          <a:spcPts val="1000"/>
        </a:spcBef>
        <a:buFontTx/>
        <a:buNone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57245" indent="0" algn="l" defTabSz="914492" rtl="0" eaLnBrk="1" latinLnBrk="0" hangingPunct="1">
        <a:lnSpc>
          <a:spcPct val="90000"/>
        </a:lnSpc>
        <a:spcBef>
          <a:spcPts val="500"/>
        </a:spcBef>
        <a:buFontTx/>
        <a:buNone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14491" indent="0" algn="l" defTabSz="914492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371737" indent="0" algn="l" defTabSz="914492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828983" indent="0" algn="l" defTabSz="914492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852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98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43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88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2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8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8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5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5A78-5D3B-7F7D-BD10-E0875372E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7523" y="1338673"/>
            <a:ext cx="9999406" cy="1561843"/>
          </a:xfrm>
        </p:spPr>
        <p:txBody>
          <a:bodyPr>
            <a:noAutofit/>
          </a:bodyPr>
          <a:lstStyle/>
          <a:p>
            <a:r>
              <a:rPr lang="vi-VN" sz="4000" dirty="0"/>
              <a:t>Đề tài: </a:t>
            </a:r>
            <a:r>
              <a:rPr lang="en-US" sz="4000" dirty="0" err="1"/>
              <a:t>Đầu</a:t>
            </a:r>
            <a:r>
              <a:rPr lang="en-US" sz="4000" dirty="0"/>
              <a:t> </a:t>
            </a:r>
            <a:r>
              <a:rPr lang="en-US" sz="4000" dirty="0" err="1"/>
              <a:t>tư</a:t>
            </a:r>
            <a:r>
              <a:rPr lang="en-US" sz="4000" dirty="0"/>
              <a:t> </a:t>
            </a:r>
            <a:r>
              <a:rPr lang="en-US" sz="4000" dirty="0" err="1"/>
              <a:t>trực</a:t>
            </a:r>
            <a:r>
              <a:rPr lang="en-US" sz="4000" dirty="0"/>
              <a:t> </a:t>
            </a:r>
            <a:r>
              <a:rPr lang="en-US" sz="4000" dirty="0" err="1"/>
              <a:t>tiếp</a:t>
            </a:r>
            <a:r>
              <a:rPr lang="en-US" sz="4000" dirty="0"/>
              <a:t> </a:t>
            </a:r>
            <a:r>
              <a:rPr lang="en-US" sz="4000" dirty="0" err="1"/>
              <a:t>nước</a:t>
            </a:r>
            <a:r>
              <a:rPr lang="en-US" sz="4000" dirty="0"/>
              <a:t> </a:t>
            </a:r>
            <a:r>
              <a:rPr lang="en-US" sz="4000" dirty="0" err="1"/>
              <a:t>ngoài</a:t>
            </a:r>
            <a:r>
              <a:rPr lang="en-US" sz="4000" dirty="0"/>
              <a:t> (FDI)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65221-2052-AFDA-809E-BA8C9AAD3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3" y="3429000"/>
            <a:ext cx="9144000" cy="1655762"/>
          </a:xfrm>
        </p:spPr>
        <p:txBody>
          <a:bodyPr>
            <a:normAutofit/>
          </a:bodyPr>
          <a:lstStyle/>
          <a:p>
            <a:r>
              <a:rPr lang="vi-VN" sz="2800" dirty="0"/>
              <a:t>Môn học: </a:t>
            </a:r>
            <a:r>
              <a:rPr lang="en-US" sz="2800" dirty="0"/>
              <a:t>Kinh </a:t>
            </a:r>
            <a:r>
              <a:rPr lang="en-US" sz="2800" dirty="0" err="1"/>
              <a:t>doanh</a:t>
            </a:r>
            <a:r>
              <a:rPr lang="en-US" sz="2800" dirty="0"/>
              <a:t> </a:t>
            </a:r>
            <a:r>
              <a:rPr lang="en-US" sz="2800" dirty="0" err="1"/>
              <a:t>quốc</a:t>
            </a:r>
            <a:r>
              <a:rPr lang="en-US" sz="2800" dirty="0"/>
              <a:t> </a:t>
            </a:r>
            <a:r>
              <a:rPr lang="en-US" sz="2800" dirty="0" err="1"/>
              <a:t>tế</a:t>
            </a:r>
            <a:endParaRPr lang="vi-VN" sz="2800" dirty="0"/>
          </a:p>
          <a:p>
            <a:r>
              <a:rPr lang="vi-VN" sz="2800" dirty="0"/>
              <a:t>Giảng viên hướng dẫn: </a:t>
            </a:r>
            <a:r>
              <a:rPr lang="vi-VN" dirty="0" err="1"/>
              <a:t>ThS</a:t>
            </a:r>
            <a:r>
              <a:rPr lang="vi-VN" dirty="0"/>
              <a:t>. Nguyễn Phú Phương Trang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9706637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ABB1F-3F34-4B62-61A2-E1BDA1E83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dirty="0"/>
              <a:t>Thành viên nhóm </a:t>
            </a:r>
            <a:r>
              <a:rPr lang="en-US" dirty="0"/>
              <a:t>5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65240DB-D82A-F83D-9F3A-CF37CB91BC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553473"/>
              </p:ext>
            </p:extLst>
          </p:nvPr>
        </p:nvGraphicFramePr>
        <p:xfrm>
          <a:off x="838200" y="2174875"/>
          <a:ext cx="10515600" cy="2622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137665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941775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Thành viên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Mức độ hoàn thành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758892"/>
                  </a:ext>
                </a:extLst>
              </a:tr>
              <a:tr h="3857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Huỳnh Thái Dương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100%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284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Bùi Hoàng Thanh Trà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100%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55117"/>
                  </a:ext>
                </a:extLst>
              </a:tr>
              <a:tr h="382195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Nhựt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100%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44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Duy Kim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9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dirty="0"/>
                        <a:t>100%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678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9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dirty="0"/>
                        <a:t>100%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537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Nguyễn Lương Quý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100%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55258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6D46A-9BBB-8688-E0B0-569DCF6E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7E16A-0602-6CA4-2D1C-674DF3F3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DBEFD-0D90-721A-EA65-3DB126303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64866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0586-5814-A07B-291F-44E17755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 err="1"/>
              <a:t>Nghịch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dân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E011-E574-019A-49BB-DE1FF5E1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E0BBC2-331D-455A-8F34-6CACAAA7B272}" type="datetime1">
              <a:rPr lang="en-GB" smtClean="0"/>
              <a:pPr>
                <a:spcAft>
                  <a:spcPts val="600"/>
                </a:spcAft>
              </a:pPr>
              <a:t>26/03/2026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D55FD-D091-C751-CE8A-DD6E54D0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7FC30-6B97-48EE-03B6-08FFD53A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6583F397-FFE3-7F4E-4280-99B5E7A0A89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84" y="1690688"/>
            <a:ext cx="5157788" cy="323430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uỗi cung ứng lạnh (Cold Chain) là gì? | Als.com.vn">
            <a:extLst>
              <a:ext uri="{FF2B5EF4-FFF2-40B4-BE49-F238E27FC236}">
                <a16:creationId xmlns:a16="http://schemas.microsoft.com/office/drawing/2014/main" id="{484FD656-7C67-D4FC-CD0D-0003F9EBE55E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136" y="1690688"/>
            <a:ext cx="5455580" cy="323430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5642B2-83B7-B95D-2589-810BE5B1BC09}"/>
              </a:ext>
            </a:extLst>
          </p:cNvPr>
          <p:cNvSpPr txBox="1"/>
          <p:nvPr/>
        </p:nvSpPr>
        <p:spPr>
          <a:xfrm>
            <a:off x="838200" y="5172635"/>
            <a:ext cx="4863353" cy="576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45875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0A0D-1485-8795-BCB8-9AD9D7F9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</p:spPr>
        <p:txBody>
          <a:bodyPr anchor="ctr">
            <a:normAutofit/>
          </a:bodyPr>
          <a:lstStyle/>
          <a:p>
            <a:r>
              <a:rPr lang="en-US"/>
              <a:t>TRÍ TUỆ NHÂN TẠO (AI) LÀ GÌ?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1DE91-811D-A552-9371-D3AF0479CC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95130"/>
            <a:ext cx="5181600" cy="408183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200"/>
              <a:t>AI là lĩnh vực khoa học máy tính mô phỏng trí thông minh con người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200"/>
              <a:t>Khả năng chính của AI: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2200"/>
              <a:t>Học từ dữ liệu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2200"/>
              <a:t>Nhận dạng hình ảnh, giọng nói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2200"/>
              <a:t>Hiểu và giao tiếp bằng ngôn ngữ con người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2200"/>
              <a:t>Hỗ trợ ra quyết định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200"/>
              <a:t>Khác biệt với phần mềm truyền thống:</a:t>
            </a:r>
            <a:br>
              <a:rPr lang="vi-VN" sz="2200"/>
            </a:br>
            <a:r>
              <a:rPr lang="vi-VN" sz="2200"/>
              <a:t>AI có khả năng tự học và cải thiện từ dữ liệu</a:t>
            </a:r>
          </a:p>
          <a:p>
            <a:endParaRPr lang="en-US" sz="2200"/>
          </a:p>
        </p:txBody>
      </p:sp>
      <p:pic>
        <p:nvPicPr>
          <p:cNvPr id="3080" name="Picture 8" descr="Trí tuệ nhân tạo AI là gì và tầm quan trọng của nó trong thời đại hiện đại">
            <a:extLst>
              <a:ext uri="{FF2B5EF4-FFF2-40B4-BE49-F238E27FC236}">
                <a16:creationId xmlns:a16="http://schemas.microsoft.com/office/drawing/2014/main" id="{9A8580B5-3150-BE54-A0FB-140EDBF70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581565"/>
            <a:ext cx="5181600" cy="310896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A7602-2FCD-2DE4-9A44-09CD5EB1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E0BBC2-331D-455A-8F34-6CACAAA7B272}" type="datetime1">
              <a:rPr lang="en-GB" smtClean="0"/>
              <a:pPr>
                <a:spcAft>
                  <a:spcPts val="600"/>
                </a:spcAft>
              </a:pPr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688F2-316D-E10A-E4C1-17C48EBA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B3DC5-A599-08FF-696B-3BE5657C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63728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208E5-0AD0-8792-A31A-E8B53E2A6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</p:spPr>
        <p:txBody>
          <a:bodyPr anchor="ctr">
            <a:normAutofit/>
          </a:bodyPr>
          <a:lstStyle/>
          <a:p>
            <a:r>
              <a:rPr lang="en-US"/>
              <a:t>VÍ DỤ ỨNG DỤNG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85242-9033-3AD7-68C3-9A079B84F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95130"/>
            <a:ext cx="5181600" cy="408183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Trợ lý ảo: ChatGPT, Siri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Nhận diện khuôn mặt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Gợi ý sản phẩm TMĐT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Chẩn đoán bệnh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Xe tự lái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/>
              <a:t>AI đã trở thành một phần của cuộc sống hằng ngày</a:t>
            </a:r>
          </a:p>
          <a:p>
            <a:endParaRPr lang="en-US"/>
          </a:p>
        </p:txBody>
      </p:sp>
      <p:pic>
        <p:nvPicPr>
          <p:cNvPr id="2052" name="Picture 4" descr="AI là gì? Ứng dụng AI trong cuộc sống">
            <a:extLst>
              <a:ext uri="{FF2B5EF4-FFF2-40B4-BE49-F238E27FC236}">
                <a16:creationId xmlns:a16="http://schemas.microsoft.com/office/drawing/2014/main" id="{B0362AB5-9CB6-B97F-828C-6A97240F6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411986"/>
            <a:ext cx="5181600" cy="344811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7CFC1-4960-70AE-517E-2B59A25664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E0BBC2-331D-455A-8F34-6CACAAA7B272}" type="datetime1">
              <a:rPr lang="en-GB" smtClean="0"/>
              <a:pPr>
                <a:spcAft>
                  <a:spcPts val="600"/>
                </a:spcAft>
              </a:pPr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B45C2-758E-451C-E898-3F723C597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19BF8-753B-3C16-C4DF-6C986F7E5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13139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D80EA-48E7-300F-BC17-318722BD2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</p:spPr>
        <p:txBody>
          <a:bodyPr anchor="ctr">
            <a:normAutofit/>
          </a:bodyPr>
          <a:lstStyle/>
          <a:p>
            <a:pPr algn="ctr"/>
            <a:r>
              <a:rPr lang="en-US" sz="3400"/>
              <a:t>VÌ SAO AI BÙNG NỔ TRONG 10 NĂM GẦN ĐÂY?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81C0D-D859-3ECA-8846-E474BE82E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368" y="1995642"/>
            <a:ext cx="5181600" cy="408183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/>
              <a:t>Bùng nổ dữ liệu lớn (Big Data)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en-US" sz="2500"/>
              <a:t>Internet, mạng xã hội, IoT tạo ra dữ liệu khổng lồ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en-US" sz="2500"/>
              <a:t>Dữ liệu là “nhiên liệu” của AI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/>
              <a:t>Phát triển phần cứng &amp; điện toán đám mây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en-US" sz="2500"/>
              <a:t>GPU, TPU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en-US" sz="2500"/>
              <a:t>Cloud computing → huấn luyện nhanh, chi phí thấp</a:t>
            </a:r>
            <a:endParaRPr lang="vi-VN" sz="2500"/>
          </a:p>
          <a:p>
            <a:pPr lvl="1"/>
            <a:endParaRPr lang="en-US" sz="2500"/>
          </a:p>
          <a:p>
            <a:endParaRPr lang="en-US" sz="25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A09665-E726-CB52-89BE-1BB0B6B04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525" y="2162175"/>
            <a:ext cx="6619107" cy="324336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0E99C-A807-16FF-2B53-B12C1AD1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E0BBC2-331D-455A-8F34-6CACAAA7B272}" type="datetime1">
              <a:rPr lang="en-GB" smtClean="0"/>
              <a:pPr>
                <a:spcAft>
                  <a:spcPts val="600"/>
                </a:spcAft>
              </a:pPr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3C1A0-C61E-D717-8E63-7A5B5EE59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5382-7F17-F2C8-21E7-D721C9E5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BDFE76-5367-35A7-CAD1-96AB48D07B6C}"/>
              </a:ext>
            </a:extLst>
          </p:cNvPr>
          <p:cNvSpPr txBox="1"/>
          <p:nvPr/>
        </p:nvSpPr>
        <p:spPr>
          <a:xfrm>
            <a:off x="6103510" y="5325662"/>
            <a:ext cx="527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/>
              <a:t>Xu hướng số lượng mô hình AI theo các năm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7808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C6F89-E02C-8F18-158F-B453E24C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</p:spPr>
        <p:txBody>
          <a:bodyPr anchor="ctr">
            <a:normAutofit/>
          </a:bodyPr>
          <a:lstStyle/>
          <a:p>
            <a:pPr algn="ctr"/>
            <a:r>
              <a:rPr lang="en-US" sz="3400"/>
              <a:t>VÌ SAO AI BÙNG NỔ TRONG 10 NĂM GẦN ĐÂY?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4D49F-02CD-55FE-BAD7-56DFAECA0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82543"/>
            <a:ext cx="6210300" cy="4261224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1800" b="1"/>
              <a:t>Đột phá thuật toán</a:t>
            </a:r>
            <a:endParaRPr lang="vi-VN" sz="1800"/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1800"/>
              <a:t>Deep Learning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1800"/>
              <a:t>Transformer → nền tảng cho ChatGPT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1800" b="1"/>
              <a:t>Đầu tư mạnh mẽ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1800"/>
              <a:t>Quốc gia dẫn đầu:</a:t>
            </a:r>
          </a:p>
          <a:p>
            <a:pPr marL="1257391" lvl="2" indent="-342900">
              <a:buFont typeface="Arial" panose="020B0604020202020204" pitchFamily="34" charset="0"/>
              <a:buChar char="•"/>
            </a:pPr>
            <a:r>
              <a:rPr lang="vi-VN" sz="1800"/>
              <a:t>Mỹ</a:t>
            </a:r>
          </a:p>
          <a:p>
            <a:pPr marL="1257391" lvl="2" indent="-342900">
              <a:buFont typeface="Arial" panose="020B0604020202020204" pitchFamily="34" charset="0"/>
              <a:buChar char="•"/>
            </a:pPr>
            <a:r>
              <a:rPr lang="vi-VN" sz="1800"/>
              <a:t>Trung Quốc</a:t>
            </a:r>
          </a:p>
          <a:p>
            <a:pPr marL="1257391" lvl="2" indent="-342900">
              <a:buFont typeface="Arial" panose="020B0604020202020204" pitchFamily="34" charset="0"/>
              <a:buChar char="•"/>
            </a:pPr>
            <a:r>
              <a:rPr lang="vi-VN" sz="1800"/>
              <a:t>EU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1800" b="1"/>
              <a:t>Doanh nghiệp lớn: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1800"/>
              <a:t>Google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1800"/>
              <a:t>Microsoft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1800"/>
              <a:t>Amazon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1800"/>
              <a:t>OpenAI</a:t>
            </a:r>
          </a:p>
          <a:p>
            <a:endParaRPr lang="en-US" sz="15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736C23-EE67-6416-D2D8-B8FEFDC40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154" y="2800350"/>
            <a:ext cx="6117821" cy="221771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AEBEC-25EC-17E0-59F9-630AD27A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E0BBC2-331D-455A-8F34-6CACAAA7B272}" type="datetime1">
              <a:rPr lang="en-GB" smtClean="0"/>
              <a:pPr>
                <a:spcAft>
                  <a:spcPts val="600"/>
                </a:spcAft>
              </a:pPr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DE5C4-1496-8AEA-3F4F-4F97647D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27252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B4172-9C26-9A95-2734-3166E44D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4E93C8-49FB-E23B-364E-222CFD93E6EE}"/>
              </a:ext>
            </a:extLst>
          </p:cNvPr>
          <p:cNvSpPr txBox="1"/>
          <p:nvPr/>
        </p:nvSpPr>
        <p:spPr>
          <a:xfrm>
            <a:off x="6923289" y="5145253"/>
            <a:ext cx="4019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Tỉ trọng các quốc gia ứng dụng AI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1685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F8EEC-C04A-FE37-8BCA-F2B3C3DD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</p:spPr>
        <p:txBody>
          <a:bodyPr anchor="ctr">
            <a:normAutofit/>
          </a:bodyPr>
          <a:lstStyle/>
          <a:p>
            <a:r>
              <a:rPr lang="vi-VN" sz="3700"/>
              <a:t>AI ĐANG ĐƯỢC ỨNG DỤNG NHƯ THẾ NÀO?</a:t>
            </a: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F04A6-44C2-43F4-36EB-4F569BC59E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95130"/>
            <a:ext cx="5181600" cy="408183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/>
              <a:t>AI giúp: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3200"/>
              <a:t>Tự động hóa quy trình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3200"/>
              <a:t>Tăng năng suất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3200"/>
              <a:t>Giảm chi phí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3200"/>
              <a:t>Cá nhân hóa trải nghiệm người dùng</a:t>
            </a:r>
          </a:p>
          <a:p>
            <a:endParaRPr lang="en-US"/>
          </a:p>
        </p:txBody>
      </p:sp>
      <p:pic>
        <p:nvPicPr>
          <p:cNvPr id="14338" name="Picture 2" descr="24 ứng dụng AI tiên tiến năm 2024">
            <a:extLst>
              <a:ext uri="{FF2B5EF4-FFF2-40B4-BE49-F238E27FC236}">
                <a16:creationId xmlns:a16="http://schemas.microsoft.com/office/drawing/2014/main" id="{B80DF62E-74C1-1D90-9020-65D86D664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470531"/>
            <a:ext cx="5181600" cy="333102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2CF40-332F-CB2D-A8C0-DEB91A5E67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E42CF6-A011-4145-8138-B18222BE784F}" type="datetime1">
              <a:rPr lang="en-GB" smtClean="0"/>
              <a:pPr>
                <a:spcAft>
                  <a:spcPts val="600"/>
                </a:spcAft>
              </a:pPr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A0819-96EC-7291-2A06-90CD618A5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11F91-01E7-8B31-CB7D-9BC530C66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57081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A1C56-81D2-C6D6-7139-C042D359F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A03B-F576-86F9-6256-9342DFE34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</p:spPr>
        <p:txBody>
          <a:bodyPr anchor="ctr">
            <a:normAutofit/>
          </a:bodyPr>
          <a:lstStyle/>
          <a:p>
            <a:r>
              <a:rPr lang="en-US" sz="3700"/>
              <a:t>ỨNG DỤNG AI THEO LĨNH VỰC TIÊU BIỂU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5281778-1BA8-BAF7-A418-7E0749D64E6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23850" y="2095130"/>
            <a:ext cx="5181600" cy="408183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Y tế</a:t>
            </a:r>
            <a:r>
              <a:rPr kumimoji="0" lang="en-US" altLang="en-US" sz="2400" i="0" u="none" strike="noStrike" cap="none" normalizeH="0" baseline="0">
                <a:ln>
                  <a:noFill/>
                </a:ln>
                <a:effectLst/>
              </a:rPr>
              <a:t>: chẩn đoán bệnh, phân tích hình ảnh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Tài chính – ngân hàng: </a:t>
            </a:r>
            <a:r>
              <a:rPr kumimoji="0" lang="en-US" altLang="en-US" sz="2400" i="0" u="none" strike="noStrike" cap="none" normalizeH="0" baseline="0">
                <a:ln>
                  <a:noFill/>
                </a:ln>
                <a:effectLst/>
              </a:rPr>
              <a:t>phát hiện gian lận, quản lý rủi ro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Giáo dục: </a:t>
            </a:r>
            <a:r>
              <a:rPr kumimoji="0" lang="en-US" altLang="en-US" sz="2400" i="0" u="none" strike="noStrike" cap="none" normalizeH="0" baseline="0">
                <a:ln>
                  <a:noFill/>
                </a:ln>
                <a:effectLst/>
              </a:rPr>
              <a:t>cá nhân hóa học tập, chấm điểm tự động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Sản xuất: </a:t>
            </a:r>
            <a:r>
              <a:rPr kumimoji="0" lang="en-US" altLang="en-US" sz="2400" i="0" u="none" strike="noStrike" cap="none" normalizeH="0" baseline="0">
                <a:ln>
                  <a:noFill/>
                </a:ln>
                <a:effectLst/>
              </a:rPr>
              <a:t>tối ưu quy trình, bảo trì dự đoán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BCFEE0-B34A-2637-DE84-7B92DE03E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1911635"/>
            <a:ext cx="5010150" cy="413101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B726B-7D8F-297C-2C6D-209E8B83CA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E0BBC2-331D-455A-8F34-6CACAAA7B272}" type="datetime1">
              <a:rPr lang="en-GB" smtClean="0"/>
              <a:pPr>
                <a:spcAft>
                  <a:spcPts val="600"/>
                </a:spcAft>
              </a:pPr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7EAD2-3795-643C-DB71-03E0FF12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98D6-8ADC-8561-5836-6EC51B32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07493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C6E77-80FA-701E-A1AF-26654EA1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188" y="948839"/>
            <a:ext cx="10515600" cy="767410"/>
          </a:xfrm>
        </p:spPr>
        <p:txBody>
          <a:bodyPr anchor="ctr">
            <a:normAutofit/>
          </a:bodyPr>
          <a:lstStyle/>
          <a:p>
            <a:r>
              <a:rPr lang="vi-VN" sz="3100"/>
              <a:t>TÁC ĐỘNG CỦA AI ĐẾN THỊ TRƯỜNG LAO ĐỘNG</a:t>
            </a:r>
            <a:endParaRPr lang="en-US" sz="310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4569D3C-CDC5-FE9E-C665-4F364B7AF8A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63645" y="1564283"/>
            <a:ext cx="5372100" cy="454697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Tự động hóa công việc lặp lại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Nâng cao năng suất lao động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Thay đổi cơ cấu việc làm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Hình thành nghề nghiệp mới:</a:t>
            </a:r>
          </a:p>
          <a:p>
            <a:pPr marL="742995" lvl="1" indent="-285750" defTabSz="914400" eaLnBrk="0" fontAlgn="base" hangingPunct="0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AI Engineer</a:t>
            </a:r>
          </a:p>
          <a:p>
            <a:pPr marL="742995" lvl="1" indent="-285750" defTabSz="914400" eaLnBrk="0" fontAlgn="base" hangingPunct="0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Data Scientist</a:t>
            </a:r>
          </a:p>
          <a:p>
            <a:pPr marL="742995" lvl="1" indent="-285750" defTabSz="914400" eaLnBrk="0" fontAlgn="base" hangingPunct="0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ML Engineer</a:t>
            </a:r>
          </a:p>
          <a:p>
            <a:pPr marL="742995" lvl="1" indent="-285750" defTabSz="914400" eaLnBrk="0" fontAlgn="base" hangingPunct="0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AI Ethics Specialist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Các nghề có xác suất bị AI thay thế cao </a:t>
            </a:r>
            <a:r>
              <a:rPr lang="vi-VN" sz="2000"/>
              <a:t>nhất:</a:t>
            </a:r>
          </a:p>
          <a:p>
            <a:pPr marL="800145" lvl="1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/>
              <a:t>Retail Worker</a:t>
            </a:r>
            <a:endParaRPr lang="vi-VN" sz="2000"/>
          </a:p>
          <a:p>
            <a:pPr marL="800145" lvl="1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/>
              <a:t>Construction Worker</a:t>
            </a:r>
            <a:endParaRPr lang="vi-VN" sz="2000"/>
          </a:p>
          <a:p>
            <a:pPr marL="800145" lvl="1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/>
              <a:t>Security Guard</a:t>
            </a:r>
            <a:endParaRPr lang="vi-VN" sz="2000"/>
          </a:p>
          <a:p>
            <a:pPr marL="800145" lvl="1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/>
              <a:t>Truck Driver</a:t>
            </a:r>
            <a:endParaRPr kumimoji="0" lang="en-US" altLang="en-US" sz="200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C5F2036-ABC0-BB4F-05A1-872FDE62C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985" y="1995642"/>
            <a:ext cx="6485469" cy="243205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2A7B3-32F2-8629-1E6E-31B14F05CE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E0BBC2-331D-455A-8F34-6CACAAA7B272}" type="datetime1">
              <a:rPr lang="en-GB" smtClean="0"/>
              <a:pPr>
                <a:spcAft>
                  <a:spcPts val="600"/>
                </a:spcAft>
              </a:pPr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45011-7EC1-24A1-9492-951E2CE65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DBF18-36F3-37F6-B230-B9612521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2412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43CC-4402-280E-6BD6-D2D0EA46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365"/>
            <a:ext cx="10515600" cy="767410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THÁCH THỨC &amp; RỦI RO CỦA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ACBB1-A80A-BB8C-6D7E-301025AC3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95130"/>
            <a:ext cx="5181600" cy="408183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/>
              <a:t>Quyền riêng tư &amp; bảo mật dữ liệu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/>
              <a:t>Thiên lệch thuật toán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/>
              <a:t>Khoảng cách kỹ năng lao động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/>
              <a:t> </a:t>
            </a:r>
            <a:r>
              <a:rPr lang="vi-VN" sz="2400"/>
              <a:t>AI cần được phát triển có trách nhiệm và đạo đức</a:t>
            </a:r>
          </a:p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499FB9-974C-FC13-1713-44D522A1E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594" y="2095130"/>
            <a:ext cx="5805105" cy="3639604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D7996-3E05-7EBF-731B-0DE22AD5A4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E0BBC2-331D-455A-8F34-6CACAAA7B272}" type="datetime1">
              <a:rPr lang="en-GB" smtClean="0"/>
              <a:pPr>
                <a:spcAft>
                  <a:spcPts val="600"/>
                </a:spcAft>
              </a:pPr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F00AA-7AC1-86EC-3515-F0D026AE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900AB-7837-D4E2-A30F-87D122DD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51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FF01-D19C-0A31-4BB2-E6D229D80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</p:spPr>
        <p:txBody>
          <a:bodyPr anchor="ctr">
            <a:normAutofit/>
          </a:bodyPr>
          <a:lstStyle/>
          <a:p>
            <a:r>
              <a:rPr lang="vi-VN" sz="3400"/>
              <a:t>XU HƯỚNG PHÁT TRIỂN AI TRONG TƯƠNG LAI</a:t>
            </a:r>
            <a:endParaRPr lang="en-US" sz="340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CD2841D-9FCF-109F-5190-392E528B71E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2095130"/>
            <a:ext cx="5181600" cy="408183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AI tạo sinh (Generative AI)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Cá nhân hóa sâu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Kết hợp AI + IoT + Big Data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AI minh bạch, bền vững, có đạo đức</a:t>
            </a:r>
          </a:p>
        </p:txBody>
      </p:sp>
      <p:pic>
        <p:nvPicPr>
          <p:cNvPr id="7175" name="Picture 7" descr="10 xu hướng ứng dụng AI chuyển đổi ngành sản xuất năm 2025">
            <a:extLst>
              <a:ext uri="{FF2B5EF4-FFF2-40B4-BE49-F238E27FC236}">
                <a16:creationId xmlns:a16="http://schemas.microsoft.com/office/drawing/2014/main" id="{FD570E62-C86D-E552-7020-15C516CD2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4125" y="2463455"/>
            <a:ext cx="5638800" cy="291807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C9678-DF93-A513-69EC-2BB1EE69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E0BBC2-331D-455A-8F34-6CACAAA7B272}" type="datetime1">
              <a:rPr lang="en-GB" smtClean="0"/>
              <a:pPr>
                <a:spcAft>
                  <a:spcPts val="600"/>
                </a:spcAft>
              </a:pPr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520A8-EC5C-94A1-AF7F-CA148F706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1D368-D87F-55E8-553F-1EF1B9FF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95489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74687-AA0C-061C-3D9B-B21425D77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</p:spPr>
        <p:txBody>
          <a:bodyPr anchor="ctr">
            <a:normAutofit/>
          </a:bodyPr>
          <a:lstStyle/>
          <a:p>
            <a:r>
              <a:rPr lang="en-US"/>
              <a:t>SINH VIÊN CẦN LÀM GÌ?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D919F30-9B4B-DCAD-D555-B74253A8282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2095130"/>
            <a:ext cx="5181600" cy="408183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effectLst/>
              </a:rPr>
              <a:t>Trang bị kiến thức AI &amp; dữ liệu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effectLst/>
              </a:rPr>
              <a:t>Phát triển kỹ năng số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effectLst/>
              </a:rPr>
              <a:t>Rèn luyện: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effectLst/>
              </a:rPr>
              <a:t>Tư duy phản biện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effectLst/>
              </a:rPr>
              <a:t>Sáng tạo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effectLst/>
              </a:rPr>
              <a:t>Giao tiếp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effectLst/>
              </a:rPr>
              <a:t>Học tập suốt đời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0" i="0" u="none" strike="noStrike" cap="none" normalizeH="0" baseline="0">
                <a:ln>
                  <a:noFill/>
                </a:ln>
                <a:effectLst/>
              </a:rPr>
              <a:t>Sử dụng AI đúng mục đích &amp; đạo đức</a:t>
            </a:r>
          </a:p>
        </p:txBody>
      </p:sp>
      <p:pic>
        <p:nvPicPr>
          <p:cNvPr id="8195" name="Picture 3" descr="Sinh viên năm 2 cần làm gì để tìm việc – Lê Tuấn Anh">
            <a:extLst>
              <a:ext uri="{FF2B5EF4-FFF2-40B4-BE49-F238E27FC236}">
                <a16:creationId xmlns:a16="http://schemas.microsoft.com/office/drawing/2014/main" id="{E1D3A79F-9EF1-22B0-B9AB-52D6DA12B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652812"/>
            <a:ext cx="5181600" cy="296646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66262-47AB-8D01-B5BE-53DDBDB4CE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E0BBC2-331D-455A-8F34-6CACAAA7B272}" type="datetime1">
              <a:rPr lang="en-GB" smtClean="0"/>
              <a:pPr>
                <a:spcAft>
                  <a:spcPts val="600"/>
                </a:spcAft>
              </a:pPr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5290-5F80-533A-1B57-DCEA286F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0D7B6-0191-3261-294C-8023975D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18018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EFF0-C15C-6CB1-DB3C-5879C46F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/>
              <a:t>GIỚI THIỆU BỘ DỮ LIỆU </a:t>
            </a:r>
            <a:r>
              <a:rPr lang="en-US" sz="3600" b="1"/>
              <a:t>AI_IMPACT_ON_JOBS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71C69-BE9C-98F6-95BD-81DB33089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9854"/>
            <a:ext cx="10515600" cy="4609818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vi-VN" sz="2400" b="1"/>
              <a:t>Nội dung đề xuất</a:t>
            </a:r>
            <a:endParaRPr lang="vi-VN" sz="2400"/>
          </a:p>
          <a:p>
            <a:pPr marL="914445" lvl="1" indent="-457200" algn="l">
              <a:buFont typeface="Courier New" panose="02070309020205020404" pitchFamily="49" charset="0"/>
              <a:buChar char="o"/>
            </a:pPr>
            <a:r>
              <a:rPr lang="vi-VN" sz="2400" b="1"/>
              <a:t>Số lượng mẫu:</a:t>
            </a:r>
            <a:r>
              <a:rPr lang="vi-VN" sz="2400"/>
              <a:t> 3.000 bản ghi</a:t>
            </a:r>
          </a:p>
          <a:p>
            <a:pPr marL="914445" lvl="1" indent="-457200" algn="l">
              <a:buFont typeface="Courier New" panose="02070309020205020404" pitchFamily="49" charset="0"/>
              <a:buChar char="o"/>
            </a:pPr>
            <a:r>
              <a:rPr lang="vi-VN" sz="2400" b="1"/>
              <a:t>Số lượng biến:</a:t>
            </a:r>
            <a:r>
              <a:rPr lang="vi-VN" sz="2400"/>
              <a:t> 18 biến dữ liệu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vi-VN" sz="2400" b="1"/>
              <a:t>Nội dung chính của bộ dữ liệu</a:t>
            </a:r>
            <a:endParaRPr lang="vi-VN" sz="2400"/>
          </a:p>
          <a:p>
            <a:pPr marL="914445" lvl="1" indent="-457200" algn="l">
              <a:buFont typeface="Courier New" panose="02070309020205020404" pitchFamily="49" charset="0"/>
              <a:buChar char="o"/>
            </a:pPr>
            <a:r>
              <a:rPr lang="vi-VN" sz="2400"/>
              <a:t>Thông tin nghề nghiệp và mức thu nhập của người lao động</a:t>
            </a:r>
          </a:p>
          <a:p>
            <a:pPr marL="914445" lvl="1" indent="-457200" algn="l">
              <a:buFont typeface="Courier New" panose="02070309020205020404" pitchFamily="49" charset="0"/>
              <a:buChar char="o"/>
            </a:pPr>
            <a:r>
              <a:rPr lang="vi-VN" sz="2400"/>
              <a:t>Trình độ học vấn và số năm kinh nghiệm làm việc</a:t>
            </a:r>
          </a:p>
          <a:p>
            <a:pPr marL="914445" lvl="1" indent="-457200" algn="l">
              <a:buFont typeface="Courier New" panose="02070309020205020404" pitchFamily="49" charset="0"/>
              <a:buChar char="o"/>
            </a:pPr>
            <a:r>
              <a:rPr lang="vi-VN" sz="2400"/>
              <a:t>Mức độ ảnh hưởng của AI tới từng công việc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vi-VN" sz="2400" b="1"/>
              <a:t>Phân loại rủi ro tự động hóa:</a:t>
            </a:r>
          </a:p>
          <a:p>
            <a:pPr marL="1371691" lvl="2" indent="-457200" algn="l">
              <a:buFont typeface="Courier New" panose="02070309020205020404" pitchFamily="49" charset="0"/>
              <a:buChar char="o"/>
            </a:pPr>
            <a:r>
              <a:rPr lang="vi-VN"/>
              <a:t>Thấp</a:t>
            </a:r>
          </a:p>
          <a:p>
            <a:pPr marL="1371691" lvl="2" indent="-457200" algn="l">
              <a:buFont typeface="Courier New" panose="02070309020205020404" pitchFamily="49" charset="0"/>
              <a:buChar char="o"/>
            </a:pPr>
            <a:r>
              <a:rPr lang="vi-VN"/>
              <a:t>Trung bình</a:t>
            </a:r>
          </a:p>
          <a:p>
            <a:pPr marL="1371691" lvl="2" indent="-457200" algn="l">
              <a:buFont typeface="Courier New" panose="02070309020205020404" pitchFamily="49" charset="0"/>
              <a:buChar char="o"/>
            </a:pPr>
            <a:r>
              <a:rPr lang="vi-VN"/>
              <a:t>Cao</a:t>
            </a:r>
          </a:p>
          <a:p>
            <a:pPr algn="l"/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9E025-8C46-9050-CA2F-63160256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BBC2-331D-455A-8F34-6CACAAA7B272}" type="datetime1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2FDE9-E806-74E7-452D-DF9B5325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40198-EC0E-989C-0017-C498D744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1400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004F-A434-3B69-3CDB-4E49DC5F9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3D93-3596-FB49-E01F-899A7A709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/>
              <a:t>GIỚI THIỆU BỘ DỮ LIỆU </a:t>
            </a:r>
            <a:r>
              <a:rPr lang="en-US" sz="3600" b="1"/>
              <a:t>BENCHMARKS RUNS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FC651-82C1-360D-66F3-E1094D1AE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 b="1"/>
              <a:t>Nội dung đề xuất</a:t>
            </a:r>
            <a:endParaRPr lang="vi-VN" sz="2400"/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2400"/>
              <a:t>Số lượng mẫu: 3.000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2400"/>
              <a:t>Số lượng biến</a:t>
            </a:r>
            <a:r>
              <a:rPr lang="vi-VN" sz="2400" b="1"/>
              <a:t>:</a:t>
            </a:r>
            <a:r>
              <a:rPr lang="vi-VN" sz="2400"/>
              <a:t> 18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 b="1"/>
              <a:t>Đặc điểm dữ liệu</a:t>
            </a:r>
            <a:endParaRPr lang="vi-VN" sz="2400"/>
          </a:p>
          <a:p>
            <a:pPr marL="914445" lvl="1" indent="-457200" algn="l">
              <a:buFont typeface="Courier New" panose="02070309020205020404" pitchFamily="49" charset="0"/>
              <a:buChar char="o"/>
            </a:pPr>
            <a:r>
              <a:rPr lang="vi-VN" sz="2400"/>
              <a:t>Mỗi dòng dữ liệu đại diện cho một nghề nghiệp hoặc một ngành nghề cụ thể</a:t>
            </a:r>
          </a:p>
          <a:p>
            <a:pPr marL="914445" lvl="1" indent="-457200" algn="l">
              <a:buFont typeface="Courier New" panose="02070309020205020404" pitchFamily="49" charset="0"/>
              <a:buChar char="o"/>
            </a:pPr>
            <a:r>
              <a:rPr lang="vi-VN" sz="2400"/>
              <a:t>Chứa các chỉ số đánh giá hiệu suất công việc liên quan đến AI</a:t>
            </a:r>
          </a:p>
          <a:p>
            <a:pPr marL="914445" lvl="1" indent="-457200" algn="l">
              <a:buFont typeface="Courier New" panose="02070309020205020404" pitchFamily="49" charset="0"/>
              <a:buChar char="o"/>
            </a:pPr>
            <a:r>
              <a:rPr lang="vi-VN" sz="2400"/>
              <a:t>Có thể dùng để:</a:t>
            </a:r>
          </a:p>
          <a:p>
            <a:pPr marL="1428841" lvl="2" indent="-514350">
              <a:buFont typeface="Wingdings" panose="05000000000000000000" pitchFamily="2" charset="2"/>
              <a:buChar char="§"/>
            </a:pPr>
            <a:r>
              <a:rPr lang="vi-VN"/>
              <a:t>So sánh hiệu suất giữa các ngành</a:t>
            </a:r>
          </a:p>
          <a:p>
            <a:pPr marL="1428841" lvl="2" indent="-514350">
              <a:buFont typeface="Wingdings" panose="05000000000000000000" pitchFamily="2" charset="2"/>
              <a:buChar char="§"/>
            </a:pPr>
            <a:r>
              <a:rPr lang="vi-VN"/>
              <a:t>Phân tích năng lực AI trong từng lĩnh vực</a:t>
            </a:r>
          </a:p>
          <a:p>
            <a:pPr algn="l"/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BE64C-B5CC-369E-6993-EBCABB59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BBC2-331D-455A-8F34-6CACAAA7B272}" type="datetime1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473-E180-48FF-3DC0-BFBDAB3B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33DB3-02A4-FE3B-3BF3-819E9C449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88041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237C5-E6C2-3436-2212-A9121AA0A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86D04-8E8E-C1CB-510E-8CAAD7A9D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/>
              <a:t>GIỚI THIỆU BỘ DỮ LIỆU </a:t>
            </a:r>
            <a:r>
              <a:rPr lang="en-US" sz="3600" b="1"/>
              <a:t>AI MODELS DATASET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4B0EC-7110-00FB-071B-A1D86B7C8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 b="1"/>
              <a:t>Nội dung đề xuất</a:t>
            </a:r>
            <a:endParaRPr lang="vi-VN" sz="2400"/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2400"/>
              <a:t>Số lượng mẫu: 3.209 mô hình AI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2400"/>
              <a:t>Số lượng biến: 6 biến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 b="1"/>
              <a:t>Nội dung chính</a:t>
            </a:r>
            <a:endParaRPr lang="vi-VN" sz="2400"/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2400"/>
              <a:t>Mỗi dòng dữ liệu đại diện cho một mô hình AI cụ thể</a:t>
            </a:r>
          </a:p>
          <a:p>
            <a:pPr marL="914445" lvl="1" indent="-457200">
              <a:buFont typeface="Courier New" panose="02070309020205020404" pitchFamily="49" charset="0"/>
              <a:buChar char="o"/>
            </a:pPr>
            <a:r>
              <a:rPr lang="vi-VN" sz="2400"/>
              <a:t>Có thể bao gồm:</a:t>
            </a:r>
          </a:p>
          <a:p>
            <a:pPr marL="1371691" lvl="2" indent="-457200">
              <a:buFont typeface="Wingdings" panose="05000000000000000000" pitchFamily="2" charset="2"/>
              <a:buChar char="§"/>
            </a:pPr>
            <a:r>
              <a:rPr lang="vi-VN"/>
              <a:t>Tên mô hình</a:t>
            </a:r>
          </a:p>
          <a:p>
            <a:pPr marL="1371691" lvl="2" indent="-457200">
              <a:buFont typeface="Wingdings" panose="05000000000000000000" pitchFamily="2" charset="2"/>
              <a:buChar char="§"/>
            </a:pPr>
            <a:r>
              <a:rPr lang="vi-VN"/>
              <a:t>Loại mô hình</a:t>
            </a:r>
          </a:p>
          <a:p>
            <a:pPr marL="1371691" lvl="2" indent="-457200">
              <a:buFont typeface="Wingdings" panose="05000000000000000000" pitchFamily="2" charset="2"/>
              <a:buChar char="§"/>
            </a:pPr>
            <a:r>
              <a:rPr lang="vi-VN"/>
              <a:t>Năm phát triển</a:t>
            </a:r>
          </a:p>
          <a:p>
            <a:pPr marL="1371691" lvl="2" indent="-457200">
              <a:buFont typeface="Wingdings" panose="05000000000000000000" pitchFamily="2" charset="2"/>
              <a:buChar char="§"/>
            </a:pPr>
            <a:r>
              <a:rPr lang="vi-VN"/>
              <a:t>Ứng dụng chính</a:t>
            </a:r>
          </a:p>
          <a:p>
            <a:pPr algn="l"/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A990D-D11A-F593-FD46-67EA2F4A3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BBC2-331D-455A-8F34-6CACAAA7B272}" type="datetime1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75101-E4AE-AA5F-21D0-C28D6CA5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5C9D9-4CA4-9FCD-37C0-9AE52C2C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04122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3227-11DF-B9E9-31F3-AD8BE90F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vi-VN" sz="3200"/>
              <a:t>Demo Power BI: Phân tích xu hướng phát triển AI theo dữ liệu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943F9-BB4D-E2E7-A1BC-B71D8DDDB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/>
              <a:t>Tổng quan xu hướng AI theo các quốc gia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/>
              <a:t>Tổng quan xu hướng AI theo nghề nghiệp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/>
              <a:t>Tổng quan xu hướng phát triển AI theo mô hình và lĩnh vực</a:t>
            </a:r>
            <a:endParaRPr lang="en-US" sz="2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60BB2-CCB2-5EE2-EDBA-80502F74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BBC2-331D-455A-8F34-6CACAAA7B272}" type="datetime1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42E88-9B78-CC78-C4FD-6AD38FDA4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7C933-CE34-34A1-17ED-582601BD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306796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3E6B-1A77-49CA-6BDA-6BB0AAB75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</p:spPr>
        <p:txBody>
          <a:bodyPr anchor="ctr">
            <a:normAutofit/>
          </a:bodyPr>
          <a:lstStyle/>
          <a:p>
            <a:pPr algn="ctr"/>
            <a:r>
              <a:rPr lang="vi-VN"/>
              <a:t>Tổng kết</a:t>
            </a:r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3CF777A-F80E-D8A4-2ECE-9C5276030AC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2095130"/>
            <a:ext cx="5181600" cy="408183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000"/>
              <a:t>AI phát triển nhanh theo thời gian, thể hiện qua sự gia tăng số lượng và quy mô mô hình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000"/>
              <a:t>AI ngôn ngữ giữ vai trò trung tâm, là lĩnh vực được nghiên cứu và ứng dụng nhiều nhất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000"/>
              <a:t>AI tác động mạnh đến thị trường lao động, thúc đẩy tự động hóa và tạo ra các nghề nghiệp mới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000"/>
              <a:t>Sự phát triển của AI mang phạm vi toàn cầu, tập trung vào các quốc gia và tổ chức công nghệ lớn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10243" name="Picture 3" descr="10 xu hướng AI trí tuệ nhân tạo hàng đầu năm 2025">
            <a:extLst>
              <a:ext uri="{FF2B5EF4-FFF2-40B4-BE49-F238E27FC236}">
                <a16:creationId xmlns:a16="http://schemas.microsoft.com/office/drawing/2014/main" id="{F39B9463-3A99-F692-588D-7493ED271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840645"/>
            <a:ext cx="5181600" cy="25908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DCA34-134C-AD46-8ED3-B93C4650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E0BBC2-331D-455A-8F34-6CACAAA7B272}" type="datetime1">
              <a:rPr lang="en-GB" smtClean="0"/>
              <a:pPr>
                <a:spcAft>
                  <a:spcPts val="600"/>
                </a:spcAft>
              </a:pPr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D47F3-B7FA-59B7-5B60-2F8604FF8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47859-9153-E7CD-FC46-DEF5D343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3D6EC1-CEF0-44B9-AC69-1554EEB371D5}" type="slidenum">
              <a:rPr lang="en-GB" smtClean="0"/>
              <a:pPr>
                <a:spcAft>
                  <a:spcPts val="600"/>
                </a:spcAft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6771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>
            <a:extLst>
              <a:ext uri="{FF2B5EF4-FFF2-40B4-BE49-F238E27FC236}">
                <a16:creationId xmlns:a16="http://schemas.microsoft.com/office/drawing/2014/main" id="{CF282C22-F553-7896-7A2E-687633C692A6}"/>
              </a:ext>
            </a:extLst>
          </p:cNvPr>
          <p:cNvSpPr/>
          <p:nvPr/>
        </p:nvSpPr>
        <p:spPr>
          <a:xfrm>
            <a:off x="5545681" y="4580027"/>
            <a:ext cx="4925674" cy="1162012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D. Sự phát triển của mạng xã hội</a:t>
            </a: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6647A3E3-7F13-05EC-08A0-46772BBC1715}"/>
              </a:ext>
            </a:extLst>
          </p:cNvPr>
          <p:cNvSpPr/>
          <p:nvPr/>
        </p:nvSpPr>
        <p:spPr>
          <a:xfrm>
            <a:off x="550241" y="2785243"/>
            <a:ext cx="4680000" cy="1162012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 Sự phổ biến của Internet</a:t>
            </a: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F9992ED5-89C1-A059-D6F9-F9F3A85161D3}"/>
              </a:ext>
            </a:extLst>
          </p:cNvPr>
          <p:cNvSpPr/>
          <p:nvPr/>
        </p:nvSpPr>
        <p:spPr>
          <a:xfrm>
            <a:off x="550241" y="4580027"/>
            <a:ext cx="4680000" cy="1162012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Sự bùng nổ của dữ liệu lớn (Big Data)</a:t>
            </a:r>
          </a:p>
          <a:p>
            <a:pPr algn="ctr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2B787824-72EB-E0E4-86FA-4DDAC8286C6A}"/>
              </a:ext>
            </a:extLst>
          </p:cNvPr>
          <p:cNvSpPr/>
          <p:nvPr/>
        </p:nvSpPr>
        <p:spPr>
          <a:xfrm>
            <a:off x="5545681" y="2785244"/>
            <a:ext cx="4925674" cy="1162012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Số lượng người dùng máy tính tăng</a:t>
            </a: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AE4E1-B16A-EB63-F15B-76FE8213DEBB}"/>
              </a:ext>
            </a:extLst>
          </p:cNvPr>
          <p:cNvSpPr txBox="1"/>
          <p:nvPr/>
        </p:nvSpPr>
        <p:spPr>
          <a:xfrm>
            <a:off x="550242" y="1435608"/>
            <a:ext cx="99211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Theo các bạn, yếu tố nào đóng vai trò là “nhiên liệu” quan trọng nhất thúc đẩy sự phát triển của AI hiện nay?</a:t>
            </a:r>
          </a:p>
          <a:p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E90423-40FA-984E-A8D3-9F464F9EB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897" y="658367"/>
            <a:ext cx="1374103" cy="126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192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>
            <a:extLst>
              <a:ext uri="{FF2B5EF4-FFF2-40B4-BE49-F238E27FC236}">
                <a16:creationId xmlns:a16="http://schemas.microsoft.com/office/drawing/2014/main" id="{D7023D6A-B2CD-1E8E-0881-13B603A6AF49}"/>
              </a:ext>
            </a:extLst>
          </p:cNvPr>
          <p:cNvSpPr txBox="1"/>
          <p:nvPr/>
        </p:nvSpPr>
        <p:spPr>
          <a:xfrm>
            <a:off x="550241" y="1305973"/>
            <a:ext cx="967544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Điểm khác biệt lớn nhất giữa AI hiện đại và phần mềm truyền thống là 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gì?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3757C532-FA4B-C2B5-B958-9D8D07D2FF56}"/>
              </a:ext>
            </a:extLst>
          </p:cNvPr>
          <p:cNvSpPr/>
          <p:nvPr/>
        </p:nvSpPr>
        <p:spPr>
          <a:xfrm>
            <a:off x="5545681" y="4580027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AI không cần con người sử dụng </a:t>
            </a:r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6F79F71D-61CE-FB8F-8DD9-2B29BDB19641}"/>
              </a:ext>
            </a:extLst>
          </p:cNvPr>
          <p:cNvSpPr/>
          <p:nvPr/>
        </p:nvSpPr>
        <p:spPr>
          <a:xfrm>
            <a:off x="550241" y="2975255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AI có giao diện đẹp hơn</a:t>
            </a:r>
          </a:p>
          <a:p>
            <a:pPr algn="ctr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56698E07-F60A-8EB5-BF5F-D95C02EA775D}"/>
              </a:ext>
            </a:extLst>
          </p:cNvPr>
          <p:cNvSpPr/>
          <p:nvPr/>
        </p:nvSpPr>
        <p:spPr>
          <a:xfrm>
            <a:off x="550241" y="4580027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AI có khả năng học hỏi và cải thiện từ dữ liệu</a:t>
            </a: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D7704CEA-986E-EE49-BB5E-A1E69DB12180}"/>
              </a:ext>
            </a:extLst>
          </p:cNvPr>
          <p:cNvSpPr/>
          <p:nvPr/>
        </p:nvSpPr>
        <p:spPr>
          <a:xfrm>
            <a:off x="5545681" y="2975845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AI chạy nhanh hơn</a:t>
            </a: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CE4780-A1AC-0A1C-8C3D-A1F5E88E1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897" y="658367"/>
            <a:ext cx="1374103" cy="126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444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mph" presetSubtype="2" fill="hold" grpId="1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B55A-3DC8-3FB8-7ABD-3285D54F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>
            <a:extLst>
              <a:ext uri="{FF2B5EF4-FFF2-40B4-BE49-F238E27FC236}">
                <a16:creationId xmlns:a16="http://schemas.microsoft.com/office/drawing/2014/main" id="{CA8523CB-FB23-AA9F-BFB7-C081B58AC10C}"/>
              </a:ext>
            </a:extLst>
          </p:cNvPr>
          <p:cNvSpPr txBox="1"/>
          <p:nvPr/>
        </p:nvSpPr>
        <p:spPr>
          <a:xfrm>
            <a:off x="550241" y="1305973"/>
            <a:ext cx="967544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Công nghệ nào sau đây được xem là bước ngoặt lớn, mở ra kỷ nguyên của các mô hình ngôn ngữ lớn như ChatGPT?</a:t>
            </a:r>
          </a:p>
          <a:p>
            <a:pPr algn="ctr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F0A05812-558B-07E4-C0DB-32E27400415D}"/>
              </a:ext>
            </a:extLst>
          </p:cNvPr>
          <p:cNvSpPr/>
          <p:nvPr/>
        </p:nvSpPr>
        <p:spPr>
          <a:xfrm>
            <a:off x="5545681" y="4580027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82A219DB-DFD8-9FCF-1442-BC9725C95E5D}"/>
              </a:ext>
            </a:extLst>
          </p:cNvPr>
          <p:cNvSpPr/>
          <p:nvPr/>
        </p:nvSpPr>
        <p:spPr>
          <a:xfrm>
            <a:off x="550241" y="2975255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CNN (Convolutional Neural Network)</a:t>
            </a:r>
          </a:p>
          <a:p>
            <a:pPr algn="ctr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CE54F6BD-4DC5-12AE-101F-B8BBCC7C46F4}"/>
              </a:ext>
            </a:extLst>
          </p:cNvPr>
          <p:cNvSpPr/>
          <p:nvPr/>
        </p:nvSpPr>
        <p:spPr>
          <a:xfrm>
            <a:off x="550241" y="4580027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Transformer</a:t>
            </a:r>
          </a:p>
          <a:p>
            <a:pPr algn="ctr" defTabSz="914377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D586D47-59C4-C395-3E49-51595743E12F}"/>
              </a:ext>
            </a:extLst>
          </p:cNvPr>
          <p:cNvSpPr/>
          <p:nvPr/>
        </p:nvSpPr>
        <p:spPr>
          <a:xfrm>
            <a:off x="5545681" y="2975845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RNN (Recurrent Neural Network)</a:t>
            </a:r>
          </a:p>
          <a:p>
            <a:pPr algn="ctr" defTabSz="914377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5C451E-3DFA-4E6C-4CD4-421C85B5C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897" y="658367"/>
            <a:ext cx="1374103" cy="126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313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mph" presetSubtype="2" fill="hold" grpId="1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3C92A-23BC-DBDD-9D6B-94F6F60C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>
            <a:extLst>
              <a:ext uri="{FF2B5EF4-FFF2-40B4-BE49-F238E27FC236}">
                <a16:creationId xmlns:a16="http://schemas.microsoft.com/office/drawing/2014/main" id="{5A00CB0B-6EB3-190C-9344-5335FB9D1545}"/>
              </a:ext>
            </a:extLst>
          </p:cNvPr>
          <p:cNvSpPr txBox="1"/>
          <p:nvPr/>
        </p:nvSpPr>
        <p:spPr>
          <a:xfrm>
            <a:off x="550241" y="1305973"/>
            <a:ext cx="967544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Theo nội dung bài thuyết trình, AI hiện được ứng dụng mạnh nhất trong lĩnh vực nào sau đây?</a:t>
            </a:r>
          </a:p>
          <a:p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9A076D02-93CD-9A33-FD09-12E27B2BB67F}"/>
              </a:ext>
            </a:extLst>
          </p:cNvPr>
          <p:cNvSpPr/>
          <p:nvPr/>
        </p:nvSpPr>
        <p:spPr>
          <a:xfrm>
            <a:off x="5545681" y="4580027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Du lịch</a:t>
            </a:r>
          </a:p>
          <a:p>
            <a:pPr algn="ctr" defTabSz="914377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046AFA38-8393-D154-3FF9-F507EFC5D6FD}"/>
              </a:ext>
            </a:extLst>
          </p:cNvPr>
          <p:cNvSpPr/>
          <p:nvPr/>
        </p:nvSpPr>
        <p:spPr>
          <a:xfrm>
            <a:off x="550241" y="2975255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Giải trí</a:t>
            </a:r>
          </a:p>
          <a:p>
            <a:pPr algn="ctr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D222F8BD-36B8-82F1-4629-BEEF055E7701}"/>
              </a:ext>
            </a:extLst>
          </p:cNvPr>
          <p:cNvSpPr/>
          <p:nvPr/>
        </p:nvSpPr>
        <p:spPr>
          <a:xfrm>
            <a:off x="550241" y="4580027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Y tế và tài chính</a:t>
            </a:r>
          </a:p>
          <a:p>
            <a:pPr algn="ctr" defTabSz="914377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597768A-B364-FE55-0AAA-9A6B91A09D94}"/>
              </a:ext>
            </a:extLst>
          </p:cNvPr>
          <p:cNvSpPr/>
          <p:nvPr/>
        </p:nvSpPr>
        <p:spPr>
          <a:xfrm>
            <a:off x="5545681" y="2975845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Thể thao</a:t>
            </a: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544A55-0089-7DF8-13A5-DA811E623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897" y="658367"/>
            <a:ext cx="1374103" cy="126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165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mph" presetSubtype="2" fill="hold" grpId="1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3772-44E7-D521-90BE-BD3B1E3DE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>
            <a:extLst>
              <a:ext uri="{FF2B5EF4-FFF2-40B4-BE49-F238E27FC236}">
                <a16:creationId xmlns:a16="http://schemas.microsoft.com/office/drawing/2014/main" id="{2638B4B2-F453-1131-ABC8-B675BD486917}"/>
              </a:ext>
            </a:extLst>
          </p:cNvPr>
          <p:cNvSpPr txBox="1"/>
          <p:nvPr/>
        </p:nvSpPr>
        <p:spPr>
          <a:xfrm>
            <a:off x="550241" y="1305973"/>
            <a:ext cx="967544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Nhận định nào sau đây là ĐÚNG khi nói về tác động của AI đến thị trường lao động?</a:t>
            </a:r>
            <a:endParaRPr lang="vi-V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F318E09C-6695-2CD5-7ABE-EA1C9021DB3D}"/>
              </a:ext>
            </a:extLst>
          </p:cNvPr>
          <p:cNvSpPr/>
          <p:nvPr/>
        </p:nvSpPr>
        <p:spPr>
          <a:xfrm>
            <a:off x="5545681" y="4580027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AI không ảnh hưởng đến việc làm</a:t>
            </a:r>
          </a:p>
          <a:p>
            <a:pPr algn="ctr" defTabSz="914377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AD4E4292-33CE-8741-7095-E01EAC87B651}"/>
              </a:ext>
            </a:extLst>
          </p:cNvPr>
          <p:cNvSpPr/>
          <p:nvPr/>
        </p:nvSpPr>
        <p:spPr>
          <a:xfrm>
            <a:off x="550241" y="2975255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AI sẽ thay thế hoàn toàn con người</a:t>
            </a:r>
          </a:p>
          <a:p>
            <a:pPr algn="ctr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3EF24E8E-0FB8-270A-C8F8-78D4AAAA1A20}"/>
              </a:ext>
            </a:extLst>
          </p:cNvPr>
          <p:cNvSpPr/>
          <p:nvPr/>
        </p:nvSpPr>
        <p:spPr>
          <a:xfrm>
            <a:off x="550241" y="4580027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C. AI vừa thay thế một số công việc, vừa tạo ra nghề mới</a:t>
            </a:r>
          </a:p>
          <a:p>
            <a:pPr algn="ctr" defTabSz="914377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07C347A-19F6-07DD-35BE-C19378115CEF}"/>
              </a:ext>
            </a:extLst>
          </p:cNvPr>
          <p:cNvSpPr/>
          <p:nvPr/>
        </p:nvSpPr>
        <p:spPr>
          <a:xfrm>
            <a:off x="5545681" y="2975845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AI chỉ tạo ra thất nghiệp</a:t>
            </a:r>
          </a:p>
          <a:p>
            <a:pPr algn="ctr" defTabSz="914377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7A22FD-C58E-451C-4041-387C1ED94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897" y="658367"/>
            <a:ext cx="1374103" cy="126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822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mph" presetSubtype="2" fill="hold" grpId="1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3EB27-9D4B-6F91-304F-ADA3A09B0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>
            <a:extLst>
              <a:ext uri="{FF2B5EF4-FFF2-40B4-BE49-F238E27FC236}">
                <a16:creationId xmlns:a16="http://schemas.microsoft.com/office/drawing/2014/main" id="{4710A912-AAA6-F36F-186B-700F5E5BC04E}"/>
              </a:ext>
            </a:extLst>
          </p:cNvPr>
          <p:cNvSpPr txBox="1"/>
          <p:nvPr/>
        </p:nvSpPr>
        <p:spPr>
          <a:xfrm>
            <a:off x="550241" y="1305973"/>
            <a:ext cx="967544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Trong bối cảnh AI phát triển mạnh mẽ, sinh viên nên làm gì để thích nghi tốt nhất?</a:t>
            </a:r>
            <a:endParaRPr lang="vi-V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F5712710-00E7-B9F3-D5E9-63567BED2589}"/>
              </a:ext>
            </a:extLst>
          </p:cNvPr>
          <p:cNvSpPr/>
          <p:nvPr/>
        </p:nvSpPr>
        <p:spPr>
          <a:xfrm>
            <a:off x="5545681" y="4580027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Phụ thuộc hoàn toàn vào AI</a:t>
            </a:r>
          </a:p>
          <a:p>
            <a:pPr algn="ctr" defTabSz="914377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430CA593-F8D7-64D8-4F0D-D7FE3DA6B4A2}"/>
              </a:ext>
            </a:extLst>
          </p:cNvPr>
          <p:cNvSpPr/>
          <p:nvPr/>
        </p:nvSpPr>
        <p:spPr>
          <a:xfrm>
            <a:off x="550241" y="2975255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A. Tránh sử dụng AI trong học tập</a:t>
            </a:r>
          </a:p>
          <a:p>
            <a:pPr algn="ctr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C687A824-A387-875F-AC81-1C484A8947AD}"/>
              </a:ext>
            </a:extLst>
          </p:cNvPr>
          <p:cNvSpPr/>
          <p:nvPr/>
        </p:nvSpPr>
        <p:spPr>
          <a:xfrm>
            <a:off x="550241" y="4580027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C. Kết hợp kỹ năng công nghệ với tư duy phản biện và sáng tạo</a:t>
            </a:r>
          </a:p>
          <a:p>
            <a:pPr algn="ctr" defTabSz="914377"/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vi-VN" sz="2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1BDAFC14-0A19-23C3-CAC1-B204A5FDC116}"/>
              </a:ext>
            </a:extLst>
          </p:cNvPr>
          <p:cNvSpPr/>
          <p:nvPr/>
        </p:nvSpPr>
        <p:spPr>
          <a:xfrm>
            <a:off x="5545681" y="2975845"/>
            <a:ext cx="4680000" cy="972000"/>
          </a:xfrm>
          <a:custGeom>
            <a:avLst/>
            <a:gdLst/>
            <a:ahLst/>
            <a:cxnLst/>
            <a:rect l="l" t="t" r="r" b="b"/>
            <a:pathLst>
              <a:path w="1011417" h="204791">
                <a:moveTo>
                  <a:pt x="102395" y="0"/>
                </a:moveTo>
                <a:lnTo>
                  <a:pt x="909021" y="0"/>
                </a:lnTo>
                <a:cubicBezTo>
                  <a:pt x="965573" y="0"/>
                  <a:pt x="1011417" y="45844"/>
                  <a:pt x="1011417" y="102395"/>
                </a:cubicBezTo>
                <a:lnTo>
                  <a:pt x="1011417" y="102395"/>
                </a:lnTo>
                <a:cubicBezTo>
                  <a:pt x="1011417" y="158947"/>
                  <a:pt x="965573" y="204791"/>
                  <a:pt x="909021" y="204791"/>
                </a:cubicBezTo>
                <a:lnTo>
                  <a:pt x="102395" y="204791"/>
                </a:lnTo>
                <a:cubicBezTo>
                  <a:pt x="45844" y="204791"/>
                  <a:pt x="0" y="158947"/>
                  <a:pt x="0" y="102395"/>
                </a:cubicBezTo>
                <a:lnTo>
                  <a:pt x="0" y="102395"/>
                </a:lnTo>
                <a:cubicBezTo>
                  <a:pt x="0" y="45844"/>
                  <a:pt x="45844" y="0"/>
                  <a:pt x="102395" y="0"/>
                </a:cubicBezTo>
                <a:close/>
              </a:path>
            </a:pathLst>
          </a:custGeom>
          <a:solidFill>
            <a:srgbClr val="FBF5EE"/>
          </a:solidFill>
          <a:ln w="28575" cap="rnd">
            <a:solidFill>
              <a:srgbClr val="4F3022"/>
            </a:solidFill>
            <a:prstDash val="solid"/>
            <a:round/>
          </a:ln>
        </p:spPr>
        <p:txBody>
          <a:bodyPr anchor="ctr"/>
          <a:lstStyle/>
          <a:p>
            <a:pPr algn="ctr" defTabSz="914377"/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B. Chỉ tập trung vào kiến thức chuyên ngành</a:t>
            </a:r>
          </a:p>
          <a:p>
            <a:pPr algn="ctr" defTabSz="914377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77"/>
            <a:endParaRPr lang="vi-V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B4A901-EBAE-2139-DDDC-DCD9FB0C6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897" y="658367"/>
            <a:ext cx="1374103" cy="126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739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mph" presetSubtype="2" fill="hold" grpId="1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826" y="2179483"/>
            <a:ext cx="7965174" cy="4855464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725512" y="2432275"/>
            <a:ext cx="4222115" cy="1106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600" b="1" dirty="0">
                <a:solidFill>
                  <a:srgbClr val="E966A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Thanks for</a:t>
            </a:r>
          </a:p>
        </p:txBody>
      </p:sp>
      <p:sp>
        <p:nvSpPr>
          <p:cNvPr id="12" name="矩形 11"/>
          <p:cNvSpPr/>
          <p:nvPr/>
        </p:nvSpPr>
        <p:spPr>
          <a:xfrm>
            <a:off x="725512" y="3428791"/>
            <a:ext cx="4856480" cy="1322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0" b="1">
                <a:solidFill>
                  <a:srgbClr val="8585BF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Watching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163B77-C532-C3B5-A524-105AB79DD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897" y="658367"/>
            <a:ext cx="1374103" cy="126508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TH-Slide-Theme_v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H-Slide-Theme_v2" id="{B57B3C46-F69E-4F32-A0BE-F43C130A983D}" vid="{73CFE558-8CE4-470B-B272-15CF44A13F7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C01F76A52D0C458BB16892D6C661AC" ma:contentTypeVersion="6" ma:contentTypeDescription="Create a new document." ma:contentTypeScope="" ma:versionID="6b77afa555a372c622bdda90d20cad40">
  <xsd:schema xmlns:xsd="http://www.w3.org/2001/XMLSchema" xmlns:xs="http://www.w3.org/2001/XMLSchema" xmlns:p="http://schemas.microsoft.com/office/2006/metadata/properties" xmlns:ns3="3ece0d0f-b473-407a-94f1-b78eb9e7751c" targetNamespace="http://schemas.microsoft.com/office/2006/metadata/properties" ma:root="true" ma:fieldsID="977fb5167094cfa05976b8bca998fca6" ns3:_="">
    <xsd:import namespace="3ece0d0f-b473-407a-94f1-b78eb9e775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ce0d0f-b473-407a-94f1-b78eb9e775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ece0d0f-b473-407a-94f1-b78eb9e7751c" xsi:nil="true"/>
  </documentManagement>
</p:properties>
</file>

<file path=customXml/itemProps1.xml><?xml version="1.0" encoding="utf-8"?>
<ds:datastoreItem xmlns:ds="http://schemas.openxmlformats.org/officeDocument/2006/customXml" ds:itemID="{1B72CE94-2907-4088-93E5-6CB482A380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ce0d0f-b473-407a-94f1-b78eb9e775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8A729D-4685-4279-BD73-89B2618CDC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E97A56-DB10-4475-A790-74F0EA9494A3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3ece0d0f-b473-407a-94f1-b78eb9e7751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UTH-Slide-Theme_v2 - Copy</Template>
  <TotalTime>322</TotalTime>
  <Words>1530</Words>
  <Application>Microsoft Office PowerPoint</Application>
  <PresentationFormat>Widescreen</PresentationFormat>
  <Paragraphs>231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Century Gothic</vt:lpstr>
      <vt:lpstr>Courier New</vt:lpstr>
      <vt:lpstr>Segoe UI Black</vt:lpstr>
      <vt:lpstr>Times New Roman</vt:lpstr>
      <vt:lpstr>Wingdings</vt:lpstr>
      <vt:lpstr>UTH-Slide-Theme_v2</vt:lpstr>
      <vt:lpstr>Đề tài: Đầu tư trực tiếp nước ngoài (FDI)</vt:lpstr>
      <vt:lpstr>Thành viên nhóm 5</vt:lpstr>
      <vt:lpstr>Nghịch lý tại đất nước tỷ dân</vt:lpstr>
      <vt:lpstr>TRÍ TUỆ NHÂN TẠO (AI) LÀ GÌ?</vt:lpstr>
      <vt:lpstr>VÍ DỤ ỨNG DỤNG AI</vt:lpstr>
      <vt:lpstr>VÌ SAO AI BÙNG NỔ TRONG 10 NĂM GẦN ĐÂY?</vt:lpstr>
      <vt:lpstr>VÌ SAO AI BÙNG NỔ TRONG 10 NĂM GẦN ĐÂY?</vt:lpstr>
      <vt:lpstr>AI ĐANG ĐƯỢC ỨNG DỤNG NHƯ THẾ NÀO?</vt:lpstr>
      <vt:lpstr>ỨNG DỤNG AI THEO LĨNH VỰC TIÊU BIỂU</vt:lpstr>
      <vt:lpstr>TÁC ĐỘNG CỦA AI ĐẾN THỊ TRƯỜNG LAO ĐỘNG</vt:lpstr>
      <vt:lpstr>THÁCH THỨC &amp; RỦI RO CỦA AI</vt:lpstr>
      <vt:lpstr>XU HƯỚNG PHÁT TRIỂN AI TRONG TƯƠNG LAI</vt:lpstr>
      <vt:lpstr>SINH VIÊN CẦN LÀM GÌ?</vt:lpstr>
      <vt:lpstr>GIỚI THIỆU BỘ DỮ LIỆU AI_IMPACT_ON_JOBS</vt:lpstr>
      <vt:lpstr>GIỚI THIỆU BỘ DỮ LIỆU BENCHMARKS RUNS</vt:lpstr>
      <vt:lpstr>GIỚI THIỆU BỘ DỮ LIỆU AI MODELS DATASET</vt:lpstr>
      <vt:lpstr>Demo Power BI: Phân tích xu hướng phát triển AI theo dữ liệu</vt:lpstr>
      <vt:lpstr>Tổng kết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Bùi Thanh Thi-HT22</dc:creator>
  <cp:lastModifiedBy>Huỳnh Thái Dương</cp:lastModifiedBy>
  <cp:revision>2</cp:revision>
  <dcterms:created xsi:type="dcterms:W3CDTF">2026-01-12T06:23:12Z</dcterms:created>
  <dcterms:modified xsi:type="dcterms:W3CDTF">2026-03-26T13:57:53Z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0x01010092C01F76A52D0C458BB16892D6C661AC</vt:lpwstr>
  </property>
</Properties>
</file>